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45" r:id="rId10"/>
    <p:sldId id="339" r:id="rId11"/>
    <p:sldId id="340" r:id="rId12"/>
    <p:sldId id="344"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95" d="100"/>
          <a:sy n="95" d="100"/>
        </p:scale>
        <p:origin x="110"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9/4/2026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9/4/2026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9/4/2026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533454" y="3217014"/>
            <a:ext cx="3400089" cy="861497"/>
          </a:xfrm>
        </p:spPr>
        <p:txBody>
          <a:bodyPr vert="horz" lIns="91440" tIns="45720" rIns="91440" bIns="45720" rtlCol="0" anchor="t">
            <a:noAutofit/>
          </a:bodyPr>
          <a:lstStyle/>
          <a:p>
            <a:pPr algn="r"/>
            <a:r>
              <a:rPr lang="en-US" sz="1600" b="0" dirty="0">
                <a:solidFill>
                  <a:schemeClr val="tx1"/>
                </a:solidFill>
              </a:rPr>
              <a:t>Student Name – Parmar Urvashi</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634408" y="2050553"/>
            <a:ext cx="7573760" cy="743448"/>
          </a:xfrm>
        </p:spPr>
        <p:txBody>
          <a:bodyPr>
            <a:noAutofit/>
          </a:bodyPr>
          <a:lstStyle/>
          <a:p>
            <a:r>
              <a:rPr lang="en-GB" dirty="0"/>
              <a:t>Project Title – Seasonal Agriculture </a:t>
            </a:r>
            <a:r>
              <a:rPr lang="en-GB" dirty="0" err="1"/>
              <a:t>Perfomance</a:t>
            </a:r>
            <a:r>
              <a:rPr lang="en-GB" dirty="0"/>
              <a:t> Analysis</a:t>
            </a:r>
            <a:endParaRPr lang="en-IN"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747519" y="4214280"/>
            <a:ext cx="5768208" cy="369332"/>
          </a:xfrm>
          <a:prstGeom prst="rect">
            <a:avLst/>
          </a:prstGeom>
          <a:noFill/>
        </p:spPr>
        <p:txBody>
          <a:bodyPr wrap="square" rtlCol="0">
            <a:spAutoFit/>
          </a:bodyPr>
          <a:lstStyle/>
          <a:p>
            <a:r>
              <a:rPr lang="en-US" b="1" dirty="0"/>
              <a:t>AICTE STU ID : </a:t>
            </a:r>
            <a:r>
              <a:rPr lang="en-US" dirty="0"/>
              <a:t>STU6a65a2e9904901785045737</a:t>
            </a:r>
            <a:endParaRPr lang="en-US" b="1" dirty="0"/>
          </a:p>
        </p:txBody>
      </p:sp>
      <p:sp>
        <p:nvSpPr>
          <p:cNvPr id="8" name="TextBox 7">
            <a:extLst>
              <a:ext uri="{FF2B5EF4-FFF2-40B4-BE49-F238E27FC236}">
                <a16:creationId xmlns:a16="http://schemas.microsoft.com/office/drawing/2014/main" id="{11DB0576-9D0F-4B71-110E-FCBB3447FB30}"/>
              </a:ext>
            </a:extLst>
          </p:cNvPr>
          <p:cNvSpPr txBox="1"/>
          <p:nvPr/>
        </p:nvSpPr>
        <p:spPr>
          <a:xfrm>
            <a:off x="967599" y="3520531"/>
            <a:ext cx="6100010" cy="584775"/>
          </a:xfrm>
          <a:prstGeom prst="rect">
            <a:avLst/>
          </a:prstGeom>
          <a:noFill/>
        </p:spPr>
        <p:txBody>
          <a:bodyPr wrap="square">
            <a:spAutoFit/>
          </a:bodyPr>
          <a:lstStyle/>
          <a:p>
            <a:pPr algn="r"/>
            <a:r>
              <a:rPr lang="en-US" sz="1600" b="0" dirty="0">
                <a:solidFill>
                  <a:schemeClr val="tx1"/>
                </a:solidFill>
              </a:rPr>
              <a:t>College Name- K.S School Of Business Management And Information Technology </a:t>
            </a:r>
            <a:endParaRPr lang="en-IN" sz="1600" b="0" dirty="0">
              <a:solidFill>
                <a:schemeClr val="tx1"/>
              </a:solidFill>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 </a:t>
            </a:r>
            <a:endParaRPr lang="en-IN" sz="2800" b="1"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2FF9F80E-53C3-C175-BADA-5DA700E7CDFC}"/>
              </a:ext>
            </a:extLst>
          </p:cNvPr>
          <p:cNvSpPr txBox="1"/>
          <p:nvPr/>
        </p:nvSpPr>
        <p:spPr>
          <a:xfrm>
            <a:off x="467358" y="1859339"/>
            <a:ext cx="6406683" cy="3785652"/>
          </a:xfrm>
          <a:prstGeom prst="rect">
            <a:avLst/>
          </a:prstGeom>
          <a:noFill/>
        </p:spPr>
        <p:txBody>
          <a:bodyPr wrap="square">
            <a:spAutoFit/>
          </a:bodyPr>
          <a:lstStyle/>
          <a:p>
            <a:pPr marL="342900" lvl="0" indent="-342900">
              <a:buFont typeface="Arial" panose="020B0604020202020204" pitchFamily="34" charset="0"/>
              <a:buChar char="•"/>
            </a:pPr>
            <a:r>
              <a:rPr lang="en-US" sz="2000" b="1" dirty="0"/>
              <a:t>Project Title:</a:t>
            </a:r>
            <a:r>
              <a:rPr lang="en-US" sz="2000" dirty="0"/>
              <a:t> Seasonal Agriculture Performance Analysis</a:t>
            </a:r>
          </a:p>
          <a:p>
            <a:pPr marL="342900" lvl="0" indent="-342900">
              <a:buFont typeface="Arial" panose="020B0604020202020204" pitchFamily="34" charset="0"/>
              <a:buChar char="•"/>
            </a:pPr>
            <a:r>
              <a:rPr lang="en-US" sz="2000" b="1" dirty="0"/>
              <a:t>Scope:</a:t>
            </a:r>
            <a:r>
              <a:rPr lang="en-US" sz="2000" dirty="0"/>
              <a:t> Analyzed </a:t>
            </a:r>
            <a:r>
              <a:rPr lang="en-US" sz="2000" b="1" dirty="0"/>
              <a:t>4,000 farm records</a:t>
            </a:r>
            <a:r>
              <a:rPr lang="en-US" sz="2000" dirty="0"/>
              <a:t> across </a:t>
            </a:r>
            <a:r>
              <a:rPr lang="en-US" sz="2000" b="1" dirty="0"/>
              <a:t>28 attributes</a:t>
            </a:r>
            <a:r>
              <a:rPr lang="en-US" sz="2000" dirty="0"/>
              <a:t> (Kharif, Rabi, Zaid seasons).</a:t>
            </a:r>
          </a:p>
          <a:p>
            <a:pPr marL="342900" lvl="0" indent="-342900">
              <a:buFont typeface="Arial" panose="020B0604020202020204" pitchFamily="34" charset="0"/>
              <a:buChar char="•"/>
            </a:pPr>
            <a:r>
              <a:rPr lang="en-US" sz="2000" b="1" dirty="0"/>
              <a:t>Objective:</a:t>
            </a:r>
            <a:r>
              <a:rPr lang="en-US" sz="2000" dirty="0"/>
              <a:t> Evaluate how weather, soil health, and irrigation methods impact crop yield and profitability.</a:t>
            </a:r>
          </a:p>
          <a:p>
            <a:pPr marL="342900" lvl="0" indent="-342900">
              <a:buFont typeface="Arial" panose="020B0604020202020204" pitchFamily="34" charset="0"/>
              <a:buChar char="•"/>
            </a:pPr>
            <a:r>
              <a:rPr lang="en-US" sz="2000" b="1" dirty="0"/>
              <a:t>Key Steps:</a:t>
            </a:r>
            <a:r>
              <a:rPr lang="en-US" sz="2000" dirty="0"/>
              <a:t> Data Cleaning ➔ Univariate/Bivariate/Multivariate Analysis (EDA) ➔ Strategic Insights.</a:t>
            </a:r>
          </a:p>
          <a:p>
            <a:pPr marL="342900" lvl="0" indent="-342900">
              <a:buFont typeface="Arial" panose="020B0604020202020204" pitchFamily="34" charset="0"/>
              <a:buChar char="•"/>
            </a:pPr>
            <a:r>
              <a:rPr lang="en-US" sz="2000" b="1" dirty="0"/>
              <a:t>Tech Stack:</a:t>
            </a:r>
            <a:r>
              <a:rPr lang="en-US" sz="2000" dirty="0"/>
              <a:t> Python (Pandas, Seaborn, Matplotlib) on Google </a:t>
            </a:r>
            <a:r>
              <a:rPr lang="en-US" sz="2000" dirty="0" err="1"/>
              <a:t>Colab</a:t>
            </a:r>
            <a:r>
              <a:rPr lang="en-US" sz="2000" dirty="0"/>
              <a:t>.</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85000" lnSpcReduction="10000"/>
          </a:bodyPr>
          <a:lstStyle/>
          <a:p>
            <a:pPr lvl="0"/>
            <a:r>
              <a:rPr lang="en-US" sz="3600" b="1" dirty="0"/>
              <a:t>Farmers:</a:t>
            </a:r>
            <a:r>
              <a:rPr lang="en-US" sz="3600" dirty="0"/>
              <a:t> Crop selection, profit optimization, and yield improvement.</a:t>
            </a:r>
          </a:p>
          <a:p>
            <a:pPr lvl="0"/>
            <a:r>
              <a:rPr lang="en-US" sz="3600" b="1" dirty="0"/>
              <a:t>Agronomists &amp; Advisors:</a:t>
            </a:r>
            <a:r>
              <a:rPr lang="en-US" sz="3600" dirty="0"/>
              <a:t> Data-backed farming recommendations.</a:t>
            </a:r>
          </a:p>
          <a:p>
            <a:pPr lvl="0"/>
            <a:r>
              <a:rPr lang="en-US" sz="3600" b="1" dirty="0"/>
              <a:t>Policy Makers:</a:t>
            </a:r>
            <a:r>
              <a:rPr lang="en-US" sz="3600" dirty="0"/>
              <a:t> Regional agricultural policy &amp; water resource management.</a:t>
            </a:r>
          </a:p>
          <a:p>
            <a:pPr lvl="0"/>
            <a:r>
              <a:rPr lang="en-US" sz="3600" b="1" dirty="0"/>
              <a:t>Agri-Tech Companies:</a:t>
            </a:r>
            <a:r>
              <a:rPr lang="en-US" sz="3600" dirty="0"/>
              <a:t> Input demand forecasting &amp; smart irrigation solutions.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1700463" y="490843"/>
            <a:ext cx="5306291" cy="847817"/>
          </a:xfrm>
        </p:spPr>
        <p:txBody>
          <a:bodyPr>
            <a:normAutofit/>
          </a:bodyPr>
          <a:lstStyle/>
          <a:p>
            <a:r>
              <a:rPr lang="en-US" dirty="0"/>
              <a:t>Technology Used</a:t>
            </a:r>
          </a:p>
        </p:txBody>
      </p:sp>
      <p:graphicFrame>
        <p:nvGraphicFramePr>
          <p:cNvPr id="3" name="Table 2">
            <a:extLst>
              <a:ext uri="{FF2B5EF4-FFF2-40B4-BE49-F238E27FC236}">
                <a16:creationId xmlns:a16="http://schemas.microsoft.com/office/drawing/2014/main" id="{13349446-C781-467B-0748-3AD004E299F3}"/>
              </a:ext>
            </a:extLst>
          </p:cNvPr>
          <p:cNvGraphicFramePr>
            <a:graphicFrameLocks noGrp="1"/>
          </p:cNvGraphicFramePr>
          <p:nvPr>
            <p:extLst>
              <p:ext uri="{D42A27DB-BD31-4B8C-83A1-F6EECF244321}">
                <p14:modId xmlns:p14="http://schemas.microsoft.com/office/powerpoint/2010/main" val="3284904187"/>
              </p:ext>
            </p:extLst>
          </p:nvPr>
        </p:nvGraphicFramePr>
        <p:xfrm>
          <a:off x="1700463" y="1576132"/>
          <a:ext cx="6935439" cy="3749040"/>
        </p:xfrm>
        <a:graphic>
          <a:graphicData uri="http://schemas.openxmlformats.org/drawingml/2006/table">
            <a:tbl>
              <a:tblPr>
                <a:tableStyleId>{6E25E649-3F16-4E02-A733-19D2CDBF48F0}</a:tableStyleId>
              </a:tblPr>
              <a:tblGrid>
                <a:gridCol w="2311813">
                  <a:extLst>
                    <a:ext uri="{9D8B030D-6E8A-4147-A177-3AD203B41FA5}">
                      <a16:colId xmlns:a16="http://schemas.microsoft.com/office/drawing/2014/main" val="826098094"/>
                    </a:ext>
                  </a:extLst>
                </a:gridCol>
                <a:gridCol w="2311813">
                  <a:extLst>
                    <a:ext uri="{9D8B030D-6E8A-4147-A177-3AD203B41FA5}">
                      <a16:colId xmlns:a16="http://schemas.microsoft.com/office/drawing/2014/main" val="2818844539"/>
                    </a:ext>
                  </a:extLst>
                </a:gridCol>
                <a:gridCol w="2311813">
                  <a:extLst>
                    <a:ext uri="{9D8B030D-6E8A-4147-A177-3AD203B41FA5}">
                      <a16:colId xmlns:a16="http://schemas.microsoft.com/office/drawing/2014/main" val="3659109584"/>
                    </a:ext>
                  </a:extLst>
                </a:gridCol>
              </a:tblGrid>
              <a:tr h="322933">
                <a:tc>
                  <a:txBody>
                    <a:bodyPr/>
                    <a:lstStyle/>
                    <a:p>
                      <a:pPr>
                        <a:spcAft>
                          <a:spcPts val="2400"/>
                        </a:spcAft>
                        <a:buNone/>
                      </a:pPr>
                      <a:r>
                        <a:rPr lang="en-US">
                          <a:effectLst/>
                        </a:rPr>
                        <a:t>Category</a:t>
                      </a:r>
                      <a:endParaRPr lang="en-US">
                        <a:effectLst/>
                        <a:latin typeface="Google Sans Text"/>
                      </a:endParaRPr>
                    </a:p>
                  </a:txBody>
                  <a:tcPr marT="60960" marB="60960" anchor="ctr"/>
                </a:tc>
                <a:tc>
                  <a:txBody>
                    <a:bodyPr/>
                    <a:lstStyle/>
                    <a:p>
                      <a:pPr>
                        <a:spcAft>
                          <a:spcPts val="2400"/>
                        </a:spcAft>
                        <a:buNone/>
                      </a:pPr>
                      <a:r>
                        <a:rPr lang="en-US">
                          <a:effectLst/>
                        </a:rPr>
                        <a:t>Tools / Libraries</a:t>
                      </a:r>
                      <a:endParaRPr lang="en-US">
                        <a:effectLst/>
                        <a:latin typeface="Google Sans Text"/>
                      </a:endParaRPr>
                    </a:p>
                  </a:txBody>
                  <a:tcPr marT="60960" marB="60960" anchor="ctr"/>
                </a:tc>
                <a:tc>
                  <a:txBody>
                    <a:bodyPr/>
                    <a:lstStyle/>
                    <a:p>
                      <a:pPr>
                        <a:spcAft>
                          <a:spcPts val="2400"/>
                        </a:spcAft>
                        <a:buNone/>
                      </a:pPr>
                      <a:r>
                        <a:rPr lang="en-US" dirty="0">
                          <a:effectLst/>
                        </a:rPr>
                        <a:t>Purpose</a:t>
                      </a:r>
                      <a:endParaRPr lang="en-US" dirty="0">
                        <a:effectLst/>
                        <a:latin typeface="Google Sans Text"/>
                      </a:endParaRPr>
                    </a:p>
                  </a:txBody>
                  <a:tcPr marT="60960" marB="60960" anchor="ctr"/>
                </a:tc>
                <a:extLst>
                  <a:ext uri="{0D108BD9-81ED-4DB2-BD59-A6C34878D82A}">
                    <a16:rowId xmlns:a16="http://schemas.microsoft.com/office/drawing/2014/main" val="1179764635"/>
                  </a:ext>
                </a:extLst>
              </a:tr>
              <a:tr h="322933">
                <a:tc>
                  <a:txBody>
                    <a:bodyPr/>
                    <a:lstStyle/>
                    <a:p>
                      <a:pPr>
                        <a:spcAft>
                          <a:spcPts val="2400"/>
                        </a:spcAft>
                        <a:buNone/>
                      </a:pPr>
                      <a:r>
                        <a:rPr lang="en-US">
                          <a:effectLst/>
                        </a:rPr>
                        <a:t>Language</a:t>
                      </a:r>
                      <a:endParaRPr lang="en-US">
                        <a:effectLst/>
                        <a:latin typeface="Google Sans Text"/>
                      </a:endParaRPr>
                    </a:p>
                  </a:txBody>
                  <a:tcPr marT="60960" marB="60960" anchor="ctr"/>
                </a:tc>
                <a:tc>
                  <a:txBody>
                    <a:bodyPr/>
                    <a:lstStyle/>
                    <a:p>
                      <a:pPr>
                        <a:spcAft>
                          <a:spcPts val="2400"/>
                        </a:spcAft>
                        <a:buNone/>
                      </a:pPr>
                      <a:r>
                        <a:rPr lang="en-US">
                          <a:effectLst/>
                        </a:rPr>
                        <a:t>Python 3</a:t>
                      </a:r>
                      <a:endParaRPr lang="en-US">
                        <a:effectLst/>
                        <a:latin typeface="Google Sans Text"/>
                      </a:endParaRPr>
                    </a:p>
                  </a:txBody>
                  <a:tcPr marT="60960" marB="60960" anchor="ctr"/>
                </a:tc>
                <a:tc>
                  <a:txBody>
                    <a:bodyPr/>
                    <a:lstStyle/>
                    <a:p>
                      <a:pPr>
                        <a:spcAft>
                          <a:spcPts val="2400"/>
                        </a:spcAft>
                        <a:buNone/>
                      </a:pPr>
                      <a:r>
                        <a:rPr lang="en-US">
                          <a:effectLst/>
                        </a:rPr>
                        <a:t>Core analysis &amp; logic</a:t>
                      </a:r>
                      <a:endParaRPr lang="en-US">
                        <a:effectLst/>
                        <a:latin typeface="Google Sans Text"/>
                      </a:endParaRPr>
                    </a:p>
                  </a:txBody>
                  <a:tcPr marT="60960" marB="60960" anchor="ctr"/>
                </a:tc>
                <a:extLst>
                  <a:ext uri="{0D108BD9-81ED-4DB2-BD59-A6C34878D82A}">
                    <a16:rowId xmlns:a16="http://schemas.microsoft.com/office/drawing/2014/main" val="895291735"/>
                  </a:ext>
                </a:extLst>
              </a:tr>
              <a:tr h="322933">
                <a:tc>
                  <a:txBody>
                    <a:bodyPr/>
                    <a:lstStyle/>
                    <a:p>
                      <a:pPr>
                        <a:spcAft>
                          <a:spcPts val="2400"/>
                        </a:spcAft>
                        <a:buNone/>
                      </a:pPr>
                      <a:r>
                        <a:rPr lang="en-US">
                          <a:effectLst/>
                        </a:rPr>
                        <a:t>Platform</a:t>
                      </a:r>
                      <a:endParaRPr lang="en-US">
                        <a:effectLst/>
                        <a:latin typeface="Google Sans Text"/>
                      </a:endParaRPr>
                    </a:p>
                  </a:txBody>
                  <a:tcPr marT="60960" marB="60960" anchor="ctr"/>
                </a:tc>
                <a:tc>
                  <a:txBody>
                    <a:bodyPr/>
                    <a:lstStyle/>
                    <a:p>
                      <a:pPr>
                        <a:spcAft>
                          <a:spcPts val="2400"/>
                        </a:spcAft>
                        <a:buNone/>
                      </a:pPr>
                      <a:r>
                        <a:rPr lang="en-US" dirty="0">
                          <a:effectLst/>
                        </a:rPr>
                        <a:t>Google </a:t>
                      </a:r>
                      <a:r>
                        <a:rPr lang="en-US" dirty="0" err="1">
                          <a:effectLst/>
                        </a:rPr>
                        <a:t>Colab</a:t>
                      </a:r>
                      <a:endParaRPr lang="en-US" dirty="0">
                        <a:effectLst/>
                        <a:latin typeface="Google Sans Text"/>
                      </a:endParaRPr>
                    </a:p>
                  </a:txBody>
                  <a:tcPr marT="60960" marB="60960" anchor="ctr"/>
                </a:tc>
                <a:tc>
                  <a:txBody>
                    <a:bodyPr/>
                    <a:lstStyle/>
                    <a:p>
                      <a:pPr>
                        <a:spcAft>
                          <a:spcPts val="2400"/>
                        </a:spcAft>
                        <a:buNone/>
                      </a:pPr>
                      <a:r>
                        <a:rPr lang="en-US">
                          <a:effectLst/>
                        </a:rPr>
                        <a:t>Cloud notebook engine</a:t>
                      </a:r>
                      <a:endParaRPr lang="en-US">
                        <a:effectLst/>
                        <a:latin typeface="Google Sans Text"/>
                      </a:endParaRPr>
                    </a:p>
                  </a:txBody>
                  <a:tcPr marT="60960" marB="60960" anchor="ctr"/>
                </a:tc>
                <a:extLst>
                  <a:ext uri="{0D108BD9-81ED-4DB2-BD59-A6C34878D82A}">
                    <a16:rowId xmlns:a16="http://schemas.microsoft.com/office/drawing/2014/main" val="2623678797"/>
                  </a:ext>
                </a:extLst>
              </a:tr>
              <a:tr h="546502">
                <a:tc>
                  <a:txBody>
                    <a:bodyPr/>
                    <a:lstStyle/>
                    <a:p>
                      <a:pPr>
                        <a:spcAft>
                          <a:spcPts val="2400"/>
                        </a:spcAft>
                        <a:buNone/>
                      </a:pPr>
                      <a:r>
                        <a:rPr lang="en-US">
                          <a:effectLst/>
                        </a:rPr>
                        <a:t>Data Analysis</a:t>
                      </a:r>
                      <a:endParaRPr lang="en-US">
                        <a:effectLst/>
                        <a:latin typeface="Google Sans Text"/>
                      </a:endParaRPr>
                    </a:p>
                  </a:txBody>
                  <a:tcPr marT="60960" marB="60960" anchor="ctr"/>
                </a:tc>
                <a:tc>
                  <a:txBody>
                    <a:bodyPr/>
                    <a:lstStyle/>
                    <a:p>
                      <a:pPr>
                        <a:spcAft>
                          <a:spcPts val="2400"/>
                        </a:spcAft>
                        <a:buNone/>
                      </a:pPr>
                      <a:r>
                        <a:rPr lang="en-US" dirty="0">
                          <a:effectLst/>
                        </a:rPr>
                        <a:t>Pandas, NumPy</a:t>
                      </a:r>
                      <a:endParaRPr lang="en-US" dirty="0">
                        <a:effectLst/>
                        <a:latin typeface="Google Sans Text"/>
                      </a:endParaRPr>
                    </a:p>
                  </a:txBody>
                  <a:tcPr marT="60960" marB="60960" anchor="ctr"/>
                </a:tc>
                <a:tc>
                  <a:txBody>
                    <a:bodyPr/>
                    <a:lstStyle/>
                    <a:p>
                      <a:pPr>
                        <a:spcAft>
                          <a:spcPts val="2400"/>
                        </a:spcAft>
                        <a:buNone/>
                      </a:pPr>
                      <a:r>
                        <a:rPr lang="en-US">
                          <a:effectLst/>
                        </a:rPr>
                        <a:t>Data cleaning &amp; metrics calculation</a:t>
                      </a:r>
                      <a:endParaRPr lang="en-US">
                        <a:effectLst/>
                        <a:latin typeface="Google Sans Text"/>
                      </a:endParaRPr>
                    </a:p>
                  </a:txBody>
                  <a:tcPr marT="60960" marB="60960" anchor="ctr"/>
                </a:tc>
                <a:extLst>
                  <a:ext uri="{0D108BD9-81ED-4DB2-BD59-A6C34878D82A}">
                    <a16:rowId xmlns:a16="http://schemas.microsoft.com/office/drawing/2014/main" val="3525106885"/>
                  </a:ext>
                </a:extLst>
              </a:tr>
              <a:tr h="546502">
                <a:tc>
                  <a:txBody>
                    <a:bodyPr/>
                    <a:lstStyle/>
                    <a:p>
                      <a:pPr>
                        <a:spcAft>
                          <a:spcPts val="2400"/>
                        </a:spcAft>
                        <a:buNone/>
                      </a:pPr>
                      <a:r>
                        <a:rPr lang="en-US">
                          <a:effectLst/>
                        </a:rPr>
                        <a:t>Visualization</a:t>
                      </a:r>
                      <a:endParaRPr lang="en-US">
                        <a:effectLst/>
                        <a:latin typeface="Google Sans Text"/>
                      </a:endParaRPr>
                    </a:p>
                  </a:txBody>
                  <a:tcPr marT="60960" marB="60960" anchor="ctr"/>
                </a:tc>
                <a:tc>
                  <a:txBody>
                    <a:bodyPr/>
                    <a:lstStyle/>
                    <a:p>
                      <a:pPr>
                        <a:spcAft>
                          <a:spcPts val="2400"/>
                        </a:spcAft>
                        <a:buNone/>
                      </a:pPr>
                      <a:r>
                        <a:rPr lang="en-US">
                          <a:effectLst/>
                        </a:rPr>
                        <a:t>Matplotlib, Seaborn</a:t>
                      </a:r>
                      <a:endParaRPr lang="en-US">
                        <a:effectLst/>
                        <a:latin typeface="Google Sans Text"/>
                      </a:endParaRPr>
                    </a:p>
                  </a:txBody>
                  <a:tcPr marT="60960" marB="60960" anchor="ctr"/>
                </a:tc>
                <a:tc>
                  <a:txBody>
                    <a:bodyPr/>
                    <a:lstStyle/>
                    <a:p>
                      <a:pPr>
                        <a:spcAft>
                          <a:spcPts val="2400"/>
                        </a:spcAft>
                        <a:buNone/>
                      </a:pPr>
                      <a:r>
                        <a:rPr lang="en-US">
                          <a:effectLst/>
                        </a:rPr>
                        <a:t>Univariate, Bivariate &amp; Pairplots</a:t>
                      </a:r>
                      <a:endParaRPr lang="en-US">
                        <a:effectLst/>
                        <a:latin typeface="Google Sans Text"/>
                      </a:endParaRPr>
                    </a:p>
                  </a:txBody>
                  <a:tcPr marT="60960" marB="60960" anchor="ctr"/>
                </a:tc>
                <a:extLst>
                  <a:ext uri="{0D108BD9-81ED-4DB2-BD59-A6C34878D82A}">
                    <a16:rowId xmlns:a16="http://schemas.microsoft.com/office/drawing/2014/main" val="2819492650"/>
                  </a:ext>
                </a:extLst>
              </a:tr>
              <a:tr h="546502">
                <a:tc>
                  <a:txBody>
                    <a:bodyPr/>
                    <a:lstStyle/>
                    <a:p>
                      <a:pPr>
                        <a:spcAft>
                          <a:spcPts val="2400"/>
                        </a:spcAft>
                        <a:buNone/>
                      </a:pPr>
                      <a:r>
                        <a:rPr lang="en-US" dirty="0">
                          <a:effectLst/>
                        </a:rPr>
                        <a:t>Repository</a:t>
                      </a:r>
                      <a:endParaRPr lang="en-US" dirty="0">
                        <a:effectLst/>
                        <a:latin typeface="Google Sans Text"/>
                      </a:endParaRPr>
                    </a:p>
                  </a:txBody>
                  <a:tcPr marT="60960" marB="60960" anchor="ctr"/>
                </a:tc>
                <a:tc>
                  <a:txBody>
                    <a:bodyPr/>
                    <a:lstStyle/>
                    <a:p>
                      <a:pPr>
                        <a:spcAft>
                          <a:spcPts val="2400"/>
                        </a:spcAft>
                        <a:buNone/>
                      </a:pPr>
                      <a:r>
                        <a:rPr lang="en-US" dirty="0">
                          <a:effectLst/>
                        </a:rPr>
                        <a:t>GitHub</a:t>
                      </a:r>
                      <a:endParaRPr lang="en-US" dirty="0">
                        <a:effectLst/>
                        <a:latin typeface="Google Sans Text"/>
                      </a:endParaRPr>
                    </a:p>
                  </a:txBody>
                  <a:tcPr marT="60960" marB="60960" anchor="ctr"/>
                </a:tc>
                <a:tc>
                  <a:txBody>
                    <a:bodyPr/>
                    <a:lstStyle/>
                    <a:p>
                      <a:pPr>
                        <a:spcAft>
                          <a:spcPts val="2400"/>
                        </a:spcAft>
                        <a:buNone/>
                      </a:pPr>
                      <a:r>
                        <a:rPr lang="en-US" dirty="0">
                          <a:effectLst/>
                        </a:rPr>
                        <a:t>Project documentation &amp; submission</a:t>
                      </a:r>
                      <a:endParaRPr lang="en-US" dirty="0">
                        <a:effectLst/>
                        <a:latin typeface="Google Sans Text"/>
                      </a:endParaRPr>
                    </a:p>
                  </a:txBody>
                  <a:tcPr marT="60960" marB="60960" anchor="ctr"/>
                </a:tc>
                <a:extLst>
                  <a:ext uri="{0D108BD9-81ED-4DB2-BD59-A6C34878D82A}">
                    <a16:rowId xmlns:a16="http://schemas.microsoft.com/office/drawing/2014/main" val="2643574073"/>
                  </a:ext>
                </a:extLst>
              </a:tr>
            </a:tbl>
          </a:graphicData>
        </a:graphic>
      </p:graphicFrame>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0CF4A1EE-2282-6AF9-75B7-503CEE0E5DEE}"/>
              </a:ext>
            </a:extLst>
          </p:cNvPr>
          <p:cNvPicPr>
            <a:picLocks noChangeAspect="1"/>
          </p:cNvPicPr>
          <p:nvPr/>
        </p:nvPicPr>
        <p:blipFill>
          <a:blip r:embed="rId3"/>
          <a:stretch>
            <a:fillRect/>
          </a:stretch>
        </p:blipFill>
        <p:spPr>
          <a:xfrm>
            <a:off x="675957" y="1107002"/>
            <a:ext cx="8453165" cy="5077229"/>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IN" dirty="0"/>
          </a:p>
        </p:txBody>
      </p:sp>
      <p:pic>
        <p:nvPicPr>
          <p:cNvPr id="3" name="Picture 2">
            <a:extLst>
              <a:ext uri="{FF2B5EF4-FFF2-40B4-BE49-F238E27FC236}">
                <a16:creationId xmlns:a16="http://schemas.microsoft.com/office/drawing/2014/main" id="{EE8F2AB8-29EF-3508-EE56-DA0ACAD1A0EB}"/>
              </a:ext>
            </a:extLst>
          </p:cNvPr>
          <p:cNvPicPr>
            <a:picLocks noChangeAspect="1"/>
          </p:cNvPicPr>
          <p:nvPr/>
        </p:nvPicPr>
        <p:blipFill>
          <a:blip r:embed="rId3"/>
          <a:stretch>
            <a:fillRect/>
          </a:stretch>
        </p:blipFill>
        <p:spPr>
          <a:xfrm>
            <a:off x="503082" y="1287338"/>
            <a:ext cx="8673003" cy="4895722"/>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DC4E385B-D033-6C6A-7BCF-BC0047D29DAA}"/>
              </a:ext>
            </a:extLst>
          </p:cNvPr>
          <p:cNvPicPr>
            <a:picLocks noChangeAspect="1"/>
          </p:cNvPicPr>
          <p:nvPr/>
        </p:nvPicPr>
        <p:blipFill>
          <a:blip r:embed="rId3"/>
          <a:stretch>
            <a:fillRect/>
          </a:stretch>
        </p:blipFill>
        <p:spPr>
          <a:xfrm>
            <a:off x="675957" y="1201586"/>
            <a:ext cx="8903229" cy="5079259"/>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F59EE103-4FF8-F451-6A82-CA560F0AC31F}"/>
              </a:ext>
            </a:extLst>
          </p:cNvPr>
          <p:cNvPicPr>
            <a:picLocks noChangeAspect="1"/>
          </p:cNvPicPr>
          <p:nvPr/>
        </p:nvPicPr>
        <p:blipFill>
          <a:blip r:embed="rId3"/>
          <a:stretch>
            <a:fillRect/>
          </a:stretch>
        </p:blipFill>
        <p:spPr>
          <a:xfrm>
            <a:off x="537336" y="1130968"/>
            <a:ext cx="9577211" cy="5037221"/>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CEFD4A3C-B6C1-F731-EB00-B72F8021CC87}"/>
              </a:ext>
            </a:extLst>
          </p:cNvPr>
          <p:cNvPicPr>
            <a:picLocks noChangeAspect="1"/>
          </p:cNvPicPr>
          <p:nvPr/>
        </p:nvPicPr>
        <p:blipFill>
          <a:blip r:embed="rId3"/>
          <a:srcRect r="27359"/>
          <a:stretch>
            <a:fillRect/>
          </a:stretch>
        </p:blipFill>
        <p:spPr>
          <a:xfrm>
            <a:off x="483255" y="1345383"/>
            <a:ext cx="7206000" cy="5126537"/>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777413"/>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77227C14-E60D-C462-BD57-7EA4D8C25A61}"/>
              </a:ext>
            </a:extLst>
          </p:cNvPr>
          <p:cNvSpPr txBox="1"/>
          <p:nvPr/>
        </p:nvSpPr>
        <p:spPr>
          <a:xfrm>
            <a:off x="395036" y="1843950"/>
            <a:ext cx="7746331" cy="4401205"/>
          </a:xfrm>
          <a:prstGeom prst="rect">
            <a:avLst/>
          </a:prstGeom>
          <a:noFill/>
        </p:spPr>
        <p:txBody>
          <a:bodyPr wrap="square">
            <a:spAutoFit/>
          </a:bodyPr>
          <a:lstStyle/>
          <a:p>
            <a:pPr marL="342900" lvl="0" indent="-342900">
              <a:buFont typeface="Arial" panose="020B0604020202020204" pitchFamily="34" charset="0"/>
              <a:buChar char="•"/>
            </a:pPr>
            <a:r>
              <a:rPr lang="en-US" sz="2000" b="1" dirty="0"/>
              <a:t>Machine Learning Integration:</a:t>
            </a:r>
            <a:r>
              <a:rPr lang="en-US" sz="2000" dirty="0"/>
              <a:t> Build predictive models for yield &amp; profit forecasting.</a:t>
            </a:r>
          </a:p>
          <a:p>
            <a:pPr marL="342900" lvl="0" indent="-342900">
              <a:buFont typeface="Arial" panose="020B0604020202020204" pitchFamily="34" charset="0"/>
              <a:buChar char="•"/>
            </a:pPr>
            <a:endParaRPr lang="en-US" sz="2000" dirty="0"/>
          </a:p>
          <a:p>
            <a:pPr marL="342900" lvl="0" indent="-342900">
              <a:buFont typeface="Arial" panose="020B0604020202020204" pitchFamily="34" charset="0"/>
              <a:buChar char="•"/>
            </a:pPr>
            <a:r>
              <a:rPr lang="en-US" sz="2000" b="1" dirty="0"/>
              <a:t>IoT &amp; Live Weather APIs:</a:t>
            </a:r>
            <a:r>
              <a:rPr lang="en-US" sz="2000" dirty="0"/>
              <a:t> Real-time monitoring of soil conditions and rainfall data.</a:t>
            </a:r>
          </a:p>
          <a:p>
            <a:pPr marL="342900" lvl="0" indent="-342900">
              <a:buFont typeface="Arial" panose="020B0604020202020204" pitchFamily="34" charset="0"/>
              <a:buChar char="•"/>
            </a:pPr>
            <a:endParaRPr lang="en-US" sz="2000" dirty="0"/>
          </a:p>
          <a:p>
            <a:pPr marL="342900" lvl="0" indent="-342900">
              <a:buFont typeface="Arial" panose="020B0604020202020204" pitchFamily="34" charset="0"/>
              <a:buChar char="•"/>
            </a:pPr>
            <a:r>
              <a:rPr lang="en-US" sz="2000" b="1" dirty="0"/>
              <a:t>GIS &amp; Satellite Mapping:</a:t>
            </a:r>
            <a:r>
              <a:rPr lang="en-US" sz="2000" dirty="0"/>
              <a:t> Spatial analysis for precision agriculture and crop monitoring.</a:t>
            </a:r>
          </a:p>
          <a:p>
            <a:pPr marL="342900" lvl="0" indent="-342900">
              <a:buFont typeface="Arial" panose="020B0604020202020204" pitchFamily="34" charset="0"/>
              <a:buChar char="•"/>
            </a:pPr>
            <a:endParaRPr lang="en-US" sz="2000" dirty="0"/>
          </a:p>
          <a:p>
            <a:pPr marL="342900" lvl="0" indent="-342900">
              <a:buFont typeface="Arial" panose="020B0604020202020204" pitchFamily="34" charset="0"/>
              <a:buChar char="•"/>
            </a:pPr>
            <a:r>
              <a:rPr lang="en-US" sz="2000" b="1" dirty="0"/>
              <a:t>Farmer-Centric Mobile App:</a:t>
            </a:r>
            <a:r>
              <a:rPr lang="en-US" sz="2000" dirty="0"/>
              <a:t> Multilingual dashboard for localized agricultural guidance.</a:t>
            </a:r>
          </a:p>
          <a:p>
            <a:pPr marL="342900" lvl="0" indent="-342900">
              <a:buFont typeface="Arial" panose="020B0604020202020204" pitchFamily="34" charset="0"/>
              <a:buChar char="•"/>
            </a:pPr>
            <a:endParaRPr lang="en-US" sz="2000" dirty="0"/>
          </a:p>
          <a:p>
            <a:pPr marL="342900" lvl="0" indent="-342900">
              <a:buFont typeface="Arial" panose="020B0604020202020204" pitchFamily="34" charset="0"/>
              <a:buChar char="•"/>
            </a:pPr>
            <a:r>
              <a:rPr lang="en-US" sz="2000" b="1" dirty="0"/>
              <a:t>Smart Recommendation System:</a:t>
            </a:r>
            <a:r>
              <a:rPr lang="en-US" sz="2000" dirty="0"/>
              <a:t> AI-driven optimization for fertilizer and water usage.</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C7133E1E-AF52-0BB1-7554-D47A58FC1D70}"/>
              </a:ext>
            </a:extLst>
          </p:cNvPr>
          <p:cNvSpPr txBox="1"/>
          <p:nvPr/>
        </p:nvSpPr>
        <p:spPr>
          <a:xfrm>
            <a:off x="675957" y="1529698"/>
            <a:ext cx="6100010" cy="646331"/>
          </a:xfrm>
          <a:prstGeom prst="rect">
            <a:avLst/>
          </a:prstGeom>
          <a:noFill/>
        </p:spPr>
        <p:txBody>
          <a:bodyPr wrap="square">
            <a:spAutoFit/>
          </a:bodyPr>
          <a:lstStyle/>
          <a:p>
            <a:r>
              <a:rPr lang="en-US" dirty="0"/>
              <a:t>https://github.com/Urvashi1824/Seasonal-Agriculture-Perfomance-Analysis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FAF7A585-1840-FF16-E743-6AF9F539D94D}"/>
              </a:ext>
            </a:extLst>
          </p:cNvPr>
          <p:cNvPicPr>
            <a:picLocks noChangeAspect="1"/>
          </p:cNvPicPr>
          <p:nvPr/>
        </p:nvPicPr>
        <p:blipFill>
          <a:blip r:embed="rId3"/>
          <a:stretch>
            <a:fillRect/>
          </a:stretch>
        </p:blipFill>
        <p:spPr>
          <a:xfrm>
            <a:off x="675957" y="1387642"/>
            <a:ext cx="6362724" cy="4483768"/>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589</TotalTime>
  <Words>393</Words>
  <Application>Microsoft Office PowerPoint</Application>
  <PresentationFormat>Widescreen</PresentationFormat>
  <Paragraphs>58</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Google Sans Text</vt:lpstr>
      <vt:lpstr>Trebuchet MS</vt:lpstr>
      <vt:lpstr>Wingdings</vt:lpstr>
      <vt:lpstr>Wingdings 3</vt:lpstr>
      <vt:lpstr>Facet</vt:lpstr>
      <vt:lpstr>Project Title – Seasonal Agriculture Perfomance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urvashi parmar</cp:lastModifiedBy>
  <cp:revision>99</cp:revision>
  <dcterms:created xsi:type="dcterms:W3CDTF">2021-07-11T13:13:15Z</dcterms:created>
  <dcterms:modified xsi:type="dcterms:W3CDTF">2026-09-04T15:13:38Z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