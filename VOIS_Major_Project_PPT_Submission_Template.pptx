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45" r:id="rId10"/>
    <p:sldId id="339" r:id="rId11"/>
    <p:sldId id="340" r:id="rId12"/>
    <p:sldId id="344"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419AE38-882F-1515-E21D-2DA2765CE3A3}" v="2" dt="2026-09-02T10:33:37.143"/>
    <p1510:client id="{BA573E70-4CE7-E3DA-403D-1D1B358A6CED}" v="45" dt="2026-09-02T10:11:53.372"/>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p:scale>
          <a:sx n="75" d="100"/>
          <a:sy n="75" d="100"/>
        </p:scale>
        <p:origin x="878" y="504"/>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5/10/relationships/revisionInfo" Target="revisionInfo.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9/4/2026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9/4/2026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9/4/2026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9/4/2026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9/4/2026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9/4/2026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9/4/2026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1533454" y="3217014"/>
            <a:ext cx="3400089" cy="861497"/>
          </a:xfrm>
        </p:spPr>
        <p:txBody>
          <a:bodyPr vert="horz" lIns="91440" tIns="45720" rIns="91440" bIns="45720" rtlCol="0" anchor="t">
            <a:noAutofit/>
          </a:bodyPr>
          <a:lstStyle/>
          <a:p>
            <a:pPr algn="r"/>
            <a:r>
              <a:rPr lang="en-US" sz="1600" b="0" dirty="0">
                <a:solidFill>
                  <a:schemeClr val="tx1"/>
                </a:solidFill>
              </a:rPr>
              <a:t>Student Name – Parmar Urvashi</a:t>
            </a: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1634408" y="2050553"/>
            <a:ext cx="7573760" cy="743448"/>
          </a:xfrm>
        </p:spPr>
        <p:txBody>
          <a:bodyPr>
            <a:noAutofit/>
          </a:bodyPr>
          <a:lstStyle/>
          <a:p>
            <a:r>
              <a:rPr lang="en-GB" dirty="0"/>
              <a:t>Project Title – Seasonal Agriculture </a:t>
            </a:r>
            <a:r>
              <a:rPr lang="en-GB" dirty="0" err="1"/>
              <a:t>Perfomance</a:t>
            </a:r>
            <a:r>
              <a:rPr lang="en-GB" dirty="0"/>
              <a:t> Analysis</a:t>
            </a:r>
            <a:endParaRPr lang="en-IN" dirty="0"/>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1747519" y="4214280"/>
            <a:ext cx="5768208" cy="369332"/>
          </a:xfrm>
          <a:prstGeom prst="rect">
            <a:avLst/>
          </a:prstGeom>
          <a:noFill/>
        </p:spPr>
        <p:txBody>
          <a:bodyPr wrap="square" rtlCol="0">
            <a:spAutoFit/>
          </a:bodyPr>
          <a:lstStyle/>
          <a:p>
            <a:r>
              <a:rPr lang="en-US" b="1" dirty="0"/>
              <a:t>AICTE STU ID : </a:t>
            </a:r>
            <a:r>
              <a:rPr lang="en-US" dirty="0"/>
              <a:t>STU6a65a2e9904901785045737</a:t>
            </a:r>
            <a:endParaRPr lang="en-US" b="1" dirty="0"/>
          </a:p>
        </p:txBody>
      </p:sp>
      <p:sp>
        <p:nvSpPr>
          <p:cNvPr id="8" name="TextBox 7">
            <a:extLst>
              <a:ext uri="{FF2B5EF4-FFF2-40B4-BE49-F238E27FC236}">
                <a16:creationId xmlns:a16="http://schemas.microsoft.com/office/drawing/2014/main" id="{11DB0576-9D0F-4B71-110E-FCBB3447FB30}"/>
              </a:ext>
            </a:extLst>
          </p:cNvPr>
          <p:cNvSpPr txBox="1"/>
          <p:nvPr/>
        </p:nvSpPr>
        <p:spPr>
          <a:xfrm>
            <a:off x="967599" y="3520531"/>
            <a:ext cx="6100010" cy="584775"/>
          </a:xfrm>
          <a:prstGeom prst="rect">
            <a:avLst/>
          </a:prstGeom>
          <a:noFill/>
        </p:spPr>
        <p:txBody>
          <a:bodyPr wrap="square">
            <a:spAutoFit/>
          </a:bodyPr>
          <a:lstStyle/>
          <a:p>
            <a:pPr algn="r"/>
            <a:r>
              <a:rPr lang="en-US" sz="1600" b="0" dirty="0">
                <a:solidFill>
                  <a:schemeClr val="tx1"/>
                </a:solidFill>
              </a:rPr>
              <a:t>College Name- K.S School Of Business Management And Information Technology </a:t>
            </a:r>
            <a:endParaRPr lang="en-IN" sz="1600" b="0" dirty="0">
              <a:solidFill>
                <a:schemeClr val="tx1"/>
              </a:solidFill>
            </a:endParaRPr>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 </a:t>
            </a:r>
            <a:endParaRPr lang="en-IN" sz="2800" b="1"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3"/>
            <a:ext cx="6276109" cy="830997"/>
          </a:xfrm>
        </p:spPr>
        <p:txBody>
          <a:bodyPr>
            <a:normAutofit fontScale="90000"/>
          </a:bodyPr>
          <a:lstStyle/>
          <a:p>
            <a:r>
              <a:rPr lang="en-GB" dirty="0"/>
              <a:t>Project Description</a:t>
            </a:r>
            <a:br>
              <a:rPr lang="en-GB" dirty="0"/>
            </a:br>
            <a:br>
              <a:rPr lang="en-GB" dirty="0"/>
            </a:br>
            <a:endParaRPr lang="en-IN"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4" name="TextBox 3">
            <a:extLst>
              <a:ext uri="{FF2B5EF4-FFF2-40B4-BE49-F238E27FC236}">
                <a16:creationId xmlns:a16="http://schemas.microsoft.com/office/drawing/2014/main" id="{2FF9F80E-53C3-C175-BADA-5DA700E7CDFC}"/>
              </a:ext>
            </a:extLst>
          </p:cNvPr>
          <p:cNvSpPr txBox="1"/>
          <p:nvPr/>
        </p:nvSpPr>
        <p:spPr>
          <a:xfrm>
            <a:off x="467358" y="1859339"/>
            <a:ext cx="6406683" cy="3785652"/>
          </a:xfrm>
          <a:prstGeom prst="rect">
            <a:avLst/>
          </a:prstGeom>
          <a:noFill/>
        </p:spPr>
        <p:txBody>
          <a:bodyPr wrap="square">
            <a:spAutoFit/>
          </a:bodyPr>
          <a:lstStyle/>
          <a:p>
            <a:pPr marL="342900" lvl="0" indent="-342900">
              <a:buFont typeface="Arial" panose="020B0604020202020204" pitchFamily="34" charset="0"/>
              <a:buChar char="•"/>
            </a:pPr>
            <a:r>
              <a:rPr lang="en-US" sz="2000" b="1" dirty="0"/>
              <a:t>Project Title:</a:t>
            </a:r>
            <a:r>
              <a:rPr lang="en-US" sz="2000" dirty="0"/>
              <a:t> Seasonal Agriculture Performance Analysis</a:t>
            </a:r>
          </a:p>
          <a:p>
            <a:pPr marL="342900" lvl="0" indent="-342900">
              <a:buFont typeface="Arial" panose="020B0604020202020204" pitchFamily="34" charset="0"/>
              <a:buChar char="•"/>
            </a:pPr>
            <a:r>
              <a:rPr lang="en-US" sz="2000" b="1" dirty="0"/>
              <a:t>Scope:</a:t>
            </a:r>
            <a:r>
              <a:rPr lang="en-US" sz="2000" dirty="0"/>
              <a:t> Analyzed </a:t>
            </a:r>
            <a:r>
              <a:rPr lang="en-US" sz="2000" b="1" dirty="0"/>
              <a:t>4,000 farm records</a:t>
            </a:r>
            <a:r>
              <a:rPr lang="en-US" sz="2000" dirty="0"/>
              <a:t> across </a:t>
            </a:r>
            <a:r>
              <a:rPr lang="en-US" sz="2000" b="1" dirty="0"/>
              <a:t>28 attributes</a:t>
            </a:r>
            <a:r>
              <a:rPr lang="en-US" sz="2000" dirty="0"/>
              <a:t> (Kharif, Rabi, Zaid seasons).</a:t>
            </a:r>
          </a:p>
          <a:p>
            <a:pPr marL="342900" lvl="0" indent="-342900">
              <a:buFont typeface="Arial" panose="020B0604020202020204" pitchFamily="34" charset="0"/>
              <a:buChar char="•"/>
            </a:pPr>
            <a:r>
              <a:rPr lang="en-US" sz="2000" b="1" dirty="0"/>
              <a:t>Objective:</a:t>
            </a:r>
            <a:r>
              <a:rPr lang="en-US" sz="2000" dirty="0"/>
              <a:t> Evaluate how weather, soil health, and irrigation methods impact crop yield and profitability.</a:t>
            </a:r>
          </a:p>
          <a:p>
            <a:pPr marL="342900" lvl="0" indent="-342900">
              <a:buFont typeface="Arial" panose="020B0604020202020204" pitchFamily="34" charset="0"/>
              <a:buChar char="•"/>
            </a:pPr>
            <a:r>
              <a:rPr lang="en-US" sz="2000" b="1" dirty="0"/>
              <a:t>Key Steps:</a:t>
            </a:r>
            <a:r>
              <a:rPr lang="en-US" sz="2000" dirty="0"/>
              <a:t> Data Cleaning ➔ Univariate/Bivariate/Multivariate Analysis (EDA) ➔ Strategic Insights.</a:t>
            </a:r>
          </a:p>
          <a:p>
            <a:pPr marL="342900" lvl="0" indent="-342900">
              <a:buFont typeface="Arial" panose="020B0604020202020204" pitchFamily="34" charset="0"/>
              <a:buChar char="•"/>
            </a:pPr>
            <a:r>
              <a:rPr lang="en-US" sz="2000" b="1" dirty="0"/>
              <a:t>Tech Stack:</a:t>
            </a:r>
            <a:r>
              <a:rPr lang="en-US" sz="2000" dirty="0"/>
              <a:t> Python (Pandas, Seaborn, Matplotlib) on Google </a:t>
            </a:r>
            <a:r>
              <a:rPr lang="en-US" sz="2000" dirty="0" err="1"/>
              <a:t>Colab</a:t>
            </a:r>
            <a:r>
              <a:rPr lang="en-US" sz="2000" dirty="0"/>
              <a:t>.</a:t>
            </a:r>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85000" lnSpcReduction="10000"/>
          </a:bodyPr>
          <a:lstStyle/>
          <a:p>
            <a:pPr lvl="0"/>
            <a:r>
              <a:rPr lang="en-US" sz="3600" b="1" dirty="0"/>
              <a:t>Farmers:</a:t>
            </a:r>
            <a:r>
              <a:rPr lang="en-US" sz="3600" dirty="0"/>
              <a:t> Crop selection, profit optimization, and yield improvement.</a:t>
            </a:r>
          </a:p>
          <a:p>
            <a:pPr lvl="0"/>
            <a:r>
              <a:rPr lang="en-US" sz="3600" b="1" dirty="0"/>
              <a:t>Agronomists &amp; Advisors:</a:t>
            </a:r>
            <a:r>
              <a:rPr lang="en-US" sz="3600" dirty="0"/>
              <a:t> Data-backed farming recommendations.</a:t>
            </a:r>
          </a:p>
          <a:p>
            <a:pPr lvl="0"/>
            <a:r>
              <a:rPr lang="en-US" sz="3600" b="1" dirty="0"/>
              <a:t>Policy Makers:</a:t>
            </a:r>
            <a:r>
              <a:rPr lang="en-US" sz="3600" dirty="0"/>
              <a:t> Regional agricultural policy &amp; water resource management.</a:t>
            </a:r>
          </a:p>
          <a:p>
            <a:pPr lvl="0"/>
            <a:r>
              <a:rPr lang="en-US" sz="3600" b="1" dirty="0"/>
              <a:t>Agri-Tech Companies:</a:t>
            </a:r>
            <a:r>
              <a:rPr lang="en-US" sz="3600" dirty="0"/>
              <a:t> Input demand forecasting &amp; smart irrigation solutions.</a:t>
            </a:r>
          </a:p>
          <a:p>
            <a:pPr algn="just">
              <a:lnSpc>
                <a:spcPct val="150000"/>
              </a:lnSpc>
            </a:pPr>
            <a:endParaRPr lang="en-IN" sz="3600" dirty="0"/>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1700463" y="490843"/>
            <a:ext cx="5306291" cy="847817"/>
          </a:xfrm>
        </p:spPr>
        <p:txBody>
          <a:bodyPr>
            <a:normAutofit/>
          </a:bodyPr>
          <a:lstStyle/>
          <a:p>
            <a:r>
              <a:rPr lang="en-US" dirty="0"/>
              <a:t>Technology Used</a:t>
            </a:r>
          </a:p>
        </p:txBody>
      </p:sp>
      <p:sp>
        <p:nvSpPr>
          <p:cNvPr id="5" name="TextBox 4">
            <a:extLst>
              <a:ext uri="{FF2B5EF4-FFF2-40B4-BE49-F238E27FC236}">
                <a16:creationId xmlns:a16="http://schemas.microsoft.com/office/drawing/2014/main" id="{E8851059-5AF5-C633-1461-B17A45243A67}"/>
              </a:ext>
            </a:extLst>
          </p:cNvPr>
          <p:cNvSpPr txBox="1"/>
          <p:nvPr/>
        </p:nvSpPr>
        <p:spPr>
          <a:xfrm>
            <a:off x="1700463" y="1674674"/>
            <a:ext cx="6296526" cy="3170099"/>
          </a:xfrm>
          <a:prstGeom prst="rect">
            <a:avLst/>
          </a:prstGeom>
          <a:noFill/>
        </p:spPr>
        <p:txBody>
          <a:bodyPr wrap="square">
            <a:spAutoFit/>
          </a:bodyPr>
          <a:lstStyle/>
          <a:p>
            <a:pPr marL="342900" lvl="0" indent="-342900">
              <a:buFont typeface="Arial" panose="020B0604020202020204" pitchFamily="34" charset="0"/>
              <a:buChar char="•"/>
            </a:pPr>
            <a:r>
              <a:rPr lang="en-US" sz="2000" b="1" dirty="0"/>
              <a:t>Programming Language:</a:t>
            </a:r>
            <a:r>
              <a:rPr lang="en-US" sz="2000" dirty="0"/>
              <a:t> Python 3</a:t>
            </a:r>
          </a:p>
          <a:p>
            <a:pPr lvl="0"/>
            <a:endParaRPr lang="en-US" sz="2000" dirty="0"/>
          </a:p>
          <a:p>
            <a:pPr marL="342900" lvl="0" indent="-342900">
              <a:buFont typeface="Arial" panose="020B0604020202020204" pitchFamily="34" charset="0"/>
              <a:buChar char="•"/>
            </a:pPr>
            <a:r>
              <a:rPr lang="en-US" sz="2000" b="1" dirty="0"/>
              <a:t>Development Environment:</a:t>
            </a:r>
            <a:r>
              <a:rPr lang="en-US" sz="2000" dirty="0"/>
              <a:t> Google </a:t>
            </a:r>
            <a:r>
              <a:rPr lang="en-US" sz="2000" dirty="0" err="1"/>
              <a:t>Colab</a:t>
            </a:r>
            <a:endParaRPr lang="en-US" sz="2000" dirty="0"/>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Data Processing &amp; Manipulation:</a:t>
            </a:r>
            <a:r>
              <a:rPr lang="en-US" sz="2000" dirty="0"/>
              <a:t> Pandas, NumPy</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Data Visualization:</a:t>
            </a:r>
            <a:r>
              <a:rPr lang="en-US" sz="2000" dirty="0"/>
              <a:t> Matplotlib, Seaborn</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Version Control &amp; Documentation:</a:t>
            </a:r>
            <a:r>
              <a:rPr lang="en-US" sz="2000" dirty="0"/>
              <a:t> GitHub, Markdown</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2B7B89A1-9444-8322-CADC-42D31D698FA8}"/>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0CF4A1EE-2282-6AF9-75B7-503CEE0E5DEE}"/>
              </a:ext>
            </a:extLst>
          </p:cNvPr>
          <p:cNvPicPr>
            <a:picLocks noChangeAspect="1"/>
          </p:cNvPicPr>
          <p:nvPr/>
        </p:nvPicPr>
        <p:blipFill>
          <a:blip r:embed="rId3"/>
          <a:stretch>
            <a:fillRect/>
          </a:stretch>
        </p:blipFill>
        <p:spPr>
          <a:xfrm>
            <a:off x="675957" y="1107002"/>
            <a:ext cx="8453165" cy="5077229"/>
          </a:xfrm>
          <a:prstGeom prst="rect">
            <a:avLst/>
          </a:prstGeom>
        </p:spPr>
      </p:pic>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19D8AC7-3787-4ADB-9212-0808F015C2DD}"/>
              </a:ext>
            </a:extLst>
          </p:cNvPr>
          <p:cNvSpPr>
            <a:spLocks noGrp="1"/>
          </p:cNvSpPr>
          <p:nvPr>
            <p:ph type="body" sz="quarter" idx="12"/>
          </p:nvPr>
        </p:nvSpPr>
        <p:spPr>
          <a:xfrm>
            <a:off x="807164" y="1431693"/>
            <a:ext cx="4275138" cy="477520"/>
          </a:xfrm>
        </p:spPr>
        <p:txBody>
          <a:bodyPr vert="horz" lIns="91440" tIns="45720" rIns="91440" bIns="45720" rtlCol="0" anchor="t">
            <a:normAutofit/>
          </a:bodyPr>
          <a:lstStyle/>
          <a:p>
            <a:pPr marL="0" indent="0">
              <a:buNone/>
            </a:pPr>
            <a:endParaRPr lang="en-IN" dirty="0"/>
          </a:p>
        </p:txBody>
      </p:sp>
      <p:pic>
        <p:nvPicPr>
          <p:cNvPr id="3" name="Picture 2">
            <a:extLst>
              <a:ext uri="{FF2B5EF4-FFF2-40B4-BE49-F238E27FC236}">
                <a16:creationId xmlns:a16="http://schemas.microsoft.com/office/drawing/2014/main" id="{EE8F2AB8-29EF-3508-EE56-DA0ACAD1A0EB}"/>
              </a:ext>
            </a:extLst>
          </p:cNvPr>
          <p:cNvPicPr>
            <a:picLocks noChangeAspect="1"/>
          </p:cNvPicPr>
          <p:nvPr/>
        </p:nvPicPr>
        <p:blipFill>
          <a:blip r:embed="rId3"/>
          <a:stretch>
            <a:fillRect/>
          </a:stretch>
        </p:blipFill>
        <p:spPr>
          <a:xfrm>
            <a:off x="503082" y="1287338"/>
            <a:ext cx="8673003" cy="4895722"/>
          </a:xfrm>
          <a:prstGeom prst="rect">
            <a:avLst/>
          </a:prstGeom>
        </p:spPr>
      </p:pic>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3A64DB11-806F-1A4C-E0D5-D745D29CED50}"/>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DC4E385B-D033-6C6A-7BCF-BC0047D29DAA}"/>
              </a:ext>
            </a:extLst>
          </p:cNvPr>
          <p:cNvPicPr>
            <a:picLocks noChangeAspect="1"/>
          </p:cNvPicPr>
          <p:nvPr/>
        </p:nvPicPr>
        <p:blipFill>
          <a:blip r:embed="rId3"/>
          <a:stretch>
            <a:fillRect/>
          </a:stretch>
        </p:blipFill>
        <p:spPr>
          <a:xfrm>
            <a:off x="675957" y="1201586"/>
            <a:ext cx="8903229" cy="5079259"/>
          </a:xfrm>
          <a:prstGeom prst="rect">
            <a:avLst/>
          </a:prstGeom>
        </p:spPr>
      </p:pic>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B1E3463-DEAD-53DD-2AC0-E8A458421D0B}"/>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B713140B-3822-90E0-F216-B77A695B86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B6E3B1C7-6A8B-23EE-6251-DC1067C6ADE9}"/>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F59EE103-4FF8-F451-6A82-CA560F0AC31F}"/>
              </a:ext>
            </a:extLst>
          </p:cNvPr>
          <p:cNvPicPr>
            <a:picLocks noChangeAspect="1"/>
          </p:cNvPicPr>
          <p:nvPr/>
        </p:nvPicPr>
        <p:blipFill>
          <a:blip r:embed="rId3"/>
          <a:stretch>
            <a:fillRect/>
          </a:stretch>
        </p:blipFill>
        <p:spPr>
          <a:xfrm>
            <a:off x="537336" y="1130968"/>
            <a:ext cx="9577211" cy="5037221"/>
          </a:xfrm>
          <a:prstGeom prst="rect">
            <a:avLst/>
          </a:prstGeom>
        </p:spPr>
      </p:pic>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1EED58A7-2CD5-1355-8D1D-DD62A1ED8CB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10" name="Text Placeholder 1">
            <a:extLst>
              <a:ext uri="{FF2B5EF4-FFF2-40B4-BE49-F238E27FC236}">
                <a16:creationId xmlns:a16="http://schemas.microsoft.com/office/drawing/2014/main" id="{F85C769B-425A-FE3B-E47A-3B747985DC52}"/>
              </a:ext>
            </a:extLst>
          </p:cNvPr>
          <p:cNvSpPr>
            <a:spLocks noGrp="1"/>
          </p:cNvSpPr>
          <p:nvPr>
            <p:ph type="body" sz="quarter" idx="12"/>
          </p:nvPr>
        </p:nvSpPr>
        <p:spPr>
          <a:xfrm>
            <a:off x="807164" y="1431693"/>
            <a:ext cx="4275138" cy="477520"/>
          </a:xfrm>
        </p:spPr>
        <p:txBody>
          <a:bodyPr/>
          <a:lstStyle/>
          <a:p>
            <a:pPr marL="0" indent="0">
              <a:buNone/>
            </a:pPr>
            <a:endParaRPr lang="en-IN" dirty="0"/>
          </a:p>
        </p:txBody>
      </p:sp>
      <p:pic>
        <p:nvPicPr>
          <p:cNvPr id="3" name="Picture 2">
            <a:extLst>
              <a:ext uri="{FF2B5EF4-FFF2-40B4-BE49-F238E27FC236}">
                <a16:creationId xmlns:a16="http://schemas.microsoft.com/office/drawing/2014/main" id="{CEFD4A3C-B6C1-F731-EB00-B72F8021CC87}"/>
              </a:ext>
            </a:extLst>
          </p:cNvPr>
          <p:cNvPicPr>
            <a:picLocks noChangeAspect="1"/>
          </p:cNvPicPr>
          <p:nvPr/>
        </p:nvPicPr>
        <p:blipFill>
          <a:blip r:embed="rId3"/>
          <a:srcRect r="27359"/>
          <a:stretch>
            <a:fillRect/>
          </a:stretch>
        </p:blipFill>
        <p:spPr>
          <a:xfrm>
            <a:off x="483255" y="1345383"/>
            <a:ext cx="7206000" cy="5126537"/>
          </a:xfrm>
          <a:prstGeom prst="rect">
            <a:avLst/>
          </a:prstGeom>
        </p:spPr>
      </p:pic>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nodePh="1">
                                  <p:stCondLst>
                                    <p:cond delay="0"/>
                                  </p:stCondLst>
                                  <p:endCondLst>
                                    <p:cond evt="begin" delay="0">
                                      <p:tn val="26"/>
                                    </p:cond>
                                  </p:endCondLst>
                                  <p:childTnLst>
                                    <p:set>
                                      <p:cBhvr>
                                        <p:cTn id="27" dur="1" fill="hold">
                                          <p:stCondLst>
                                            <p:cond delay="0"/>
                                          </p:stCondLst>
                                        </p:cTn>
                                        <p:tgtEl>
                                          <p:spTgt spid="10">
                                            <p:txEl>
                                              <p:pRg st="0" end="0"/>
                                            </p:txEl>
                                          </p:spTgt>
                                        </p:tgtEl>
                                        <p:attrNameLst>
                                          <p:attrName>style.visibility</p:attrName>
                                        </p:attrNameLst>
                                      </p:cBhvr>
                                      <p:to>
                                        <p:strVal val="visible"/>
                                      </p:to>
                                    </p:set>
                                    <p:animEffect transition="in" filter="fade">
                                      <p:cBhvr>
                                        <p:cTn id="28" dur="1000"/>
                                        <p:tgtEl>
                                          <p:spTgt spid="10">
                                            <p:txEl>
                                              <p:pRg st="0" end="0"/>
                                            </p:txEl>
                                          </p:spTgt>
                                        </p:tgtEl>
                                      </p:cBhvr>
                                    </p:animEffect>
                                    <p:anim calcmode="lin" valueType="num">
                                      <p:cBhvr>
                                        <p:cTn id="29" dur="1000" fill="hold"/>
                                        <p:tgtEl>
                                          <p:spTgt spid="10">
                                            <p:txEl>
                                              <p:pRg st="0" end="0"/>
                                            </p:txEl>
                                          </p:spTgt>
                                        </p:tgtEl>
                                        <p:attrNameLst>
                                          <p:attrName>ppt_x</p:attrName>
                                        </p:attrNameLst>
                                      </p:cBhvr>
                                      <p:tavLst>
                                        <p:tav tm="0">
                                          <p:val>
                                            <p:strVal val="#ppt_x"/>
                                          </p:val>
                                        </p:tav>
                                        <p:tav tm="100000">
                                          <p:val>
                                            <p:strVal val="#ppt_x"/>
                                          </p:val>
                                        </p:tav>
                                      </p:tavLst>
                                    </p:anim>
                                    <p:anim calcmode="lin" valueType="num">
                                      <p:cBhvr>
                                        <p:cTn id="30" dur="1000" fill="hold"/>
                                        <p:tgtEl>
                                          <p:spTgt spid="10">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P spid="10" grpId="0"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777413"/>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77227C14-E60D-C462-BD57-7EA4D8C25A61}"/>
              </a:ext>
            </a:extLst>
          </p:cNvPr>
          <p:cNvSpPr txBox="1"/>
          <p:nvPr/>
        </p:nvSpPr>
        <p:spPr>
          <a:xfrm>
            <a:off x="395036" y="1843950"/>
            <a:ext cx="7746331" cy="4401205"/>
          </a:xfrm>
          <a:prstGeom prst="rect">
            <a:avLst/>
          </a:prstGeom>
          <a:noFill/>
        </p:spPr>
        <p:txBody>
          <a:bodyPr wrap="square">
            <a:spAutoFit/>
          </a:bodyPr>
          <a:lstStyle/>
          <a:p>
            <a:pPr marL="342900" lvl="0" indent="-342900">
              <a:buFont typeface="Arial" panose="020B0604020202020204" pitchFamily="34" charset="0"/>
              <a:buChar char="•"/>
            </a:pPr>
            <a:r>
              <a:rPr lang="en-US" sz="2000" b="1" dirty="0"/>
              <a:t>Machine Learning Integration:</a:t>
            </a:r>
            <a:r>
              <a:rPr lang="en-US" sz="2000" dirty="0"/>
              <a:t> Build predictive models for yield &amp; profit forecasting.</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IoT &amp; Live Weather APIs:</a:t>
            </a:r>
            <a:r>
              <a:rPr lang="en-US" sz="2000" dirty="0"/>
              <a:t> Real-time monitoring of soil conditions and rainfall data.</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GIS &amp; Satellite Mapping:</a:t>
            </a:r>
            <a:r>
              <a:rPr lang="en-US" sz="2000" dirty="0"/>
              <a:t> Spatial analysis for precision agriculture and crop monitoring.</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Farmer-Centric Mobile App:</a:t>
            </a:r>
            <a:r>
              <a:rPr lang="en-US" sz="2000" dirty="0"/>
              <a:t> Multilingual dashboard for localized agricultural guidance.</a:t>
            </a:r>
          </a:p>
          <a:p>
            <a:pPr marL="342900" lvl="0" indent="-342900">
              <a:buFont typeface="Arial" panose="020B0604020202020204" pitchFamily="34" charset="0"/>
              <a:buChar char="•"/>
            </a:pPr>
            <a:endParaRPr lang="en-US" sz="2000" dirty="0"/>
          </a:p>
          <a:p>
            <a:pPr marL="342900" lvl="0" indent="-342900">
              <a:buFont typeface="Arial" panose="020B0604020202020204" pitchFamily="34" charset="0"/>
              <a:buChar char="•"/>
            </a:pPr>
            <a:r>
              <a:rPr lang="en-US" sz="2000" b="1" dirty="0"/>
              <a:t>Smart Recommendation System:</a:t>
            </a:r>
            <a:r>
              <a:rPr lang="en-US" sz="2000" dirty="0"/>
              <a:t> AI-driven optimization for fertilizer and water usage.</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C7133E1E-AF52-0BB1-7554-D47A58FC1D70}"/>
              </a:ext>
            </a:extLst>
          </p:cNvPr>
          <p:cNvSpPr txBox="1"/>
          <p:nvPr/>
        </p:nvSpPr>
        <p:spPr>
          <a:xfrm>
            <a:off x="675957" y="1529698"/>
            <a:ext cx="6100010" cy="646331"/>
          </a:xfrm>
          <a:prstGeom prst="rect">
            <a:avLst/>
          </a:prstGeom>
          <a:noFill/>
        </p:spPr>
        <p:txBody>
          <a:bodyPr wrap="square">
            <a:spAutoFit/>
          </a:bodyPr>
          <a:lstStyle/>
          <a:p>
            <a:r>
              <a:rPr lang="en-US" dirty="0"/>
              <a:t>https://github.com/Urvashi1824/Seasonal-Agriculture-Perfomance-Analysis</a:t>
            </a:r>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FAF7A585-1840-FF16-E743-6AF9F539D94D}"/>
              </a:ext>
            </a:extLst>
          </p:cNvPr>
          <p:cNvPicPr>
            <a:picLocks noChangeAspect="1"/>
          </p:cNvPicPr>
          <p:nvPr/>
        </p:nvPicPr>
        <p:blipFill>
          <a:blip r:embed="rId3"/>
          <a:stretch>
            <a:fillRect/>
          </a:stretch>
        </p:blipFill>
        <p:spPr>
          <a:xfrm>
            <a:off x="675957" y="1387642"/>
            <a:ext cx="6362724" cy="4483768"/>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12" name="Text Placeholder 11">
            <a:extLst>
              <a:ext uri="{FF2B5EF4-FFF2-40B4-BE49-F238E27FC236}">
                <a16:creationId xmlns:a16="http://schemas.microsoft.com/office/drawing/2014/main" id="{BC277FD7-925B-4C3D-A364-118403201507}"/>
              </a:ext>
            </a:extLst>
          </p:cNvPr>
          <p:cNvSpPr>
            <a:spLocks noGrp="1"/>
          </p:cNvSpPr>
          <p:nvPr>
            <p:ph type="body" sz="quarter" idx="12"/>
          </p:nvPr>
        </p:nvSpPr>
        <p:spPr>
          <a:xfrm>
            <a:off x="2975013" y="3962573"/>
            <a:ext cx="2139696" cy="344312"/>
          </a:xfrm>
        </p:spPr>
        <p:txBody>
          <a:bodyPr>
            <a:normAutofit fontScale="92500" lnSpcReduction="20000"/>
          </a:bodyPr>
          <a:lstStyle/>
          <a:p>
            <a:endParaRPr lang="en-IN" dirty="0"/>
          </a:p>
        </p:txBody>
      </p:sp>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customXml/itemProps3.xml><?xml version="1.0" encoding="utf-8"?>
<ds:datastoreItem xmlns:ds="http://schemas.openxmlformats.org/officeDocument/2006/customXml" ds:itemID="{05D99ABA-76CE-4A8E-B5F0-C051B96628D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Facet</Template>
  <TotalTime>599</TotalTime>
  <Words>382</Words>
  <Application>Microsoft Office PowerPoint</Application>
  <PresentationFormat>Widescreen</PresentationFormat>
  <Paragraphs>49</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urvashi parmar</cp:lastModifiedBy>
  <cp:revision>100</cp:revision>
  <dcterms:created xsi:type="dcterms:W3CDTF">2021-07-11T13:13:15Z</dcterms:created>
  <dcterms:modified xsi:type="dcterms:W3CDTF">2026-09-04T15:26:17Z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